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6"/>
    </p:embeddedFont>
    <p:embeddedFont>
      <p:font typeface="Courier New Bold" charset="1" panose="02070609020205020404"/>
      <p:regular r:id="rId19"/>
    </p:embeddedFont>
    <p:embeddedFont>
      <p:font typeface="Courier New" charset="1" panose="020703090202050204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 (Member 1): state the problem and the user. Only the array Passenger[] with front, rear, size, capacity is the queue; no java.util Queue or LinkedList is used for it. Initial data: tickets 101 Aarav Thane, 102 Meera Dadar, 103 Rohan Panvel; next ticket is 104. Replace the team placeholder with real names and roll numbers. Confirm the boarding-history implementation (manual array or otherwise) before presenting; describe only what is actually built.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Member 2: explain FIFO and why boarding is naturally FIFO. A linear array queue moves front forward and never reuses the freed cells, so it reports full after capacity insertions overall. A linked list avoids that but adds node allocation and pointers, which is unnecessary for a small fixed counter queue. With front/rear alone, an empty and a full ring look alike; the size counter resolves this.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Member 3 explains the diagram and enqueue; Member 4 explains dequeue. Algorithms are pseudocode, not Java. LIVE DEMO PLAN: 1) javac TransportQueueSystem.java then java TransportQueueSystem. 2) Display initial queue (101-103). 3) Add passengers until full (104, 105). 4) Try one more add to show overflow. 5) Board a passenger to free a slot. 6) Add another passenger to show wraparound. 7) Search a ticket and display queue status. If short on time: do enqueue, dequeue, wraparound and one boundary case. Use real terminal output only.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Member 5 walks through the table. Key moment: step 5. Rear was at index 4, so (4+1)%5 = 0 and passenger 106 reuses the slot freed by 101. After step 6 the queue is full (size 5) even though front is 2: fullness depends on size, not on index positions. Dequeue only moves front; it does not shift elements.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Member 6: results are marked Pending verification because tests have not been recorded. Run each case, then replace with Pass/Fail and paste a real screenshot. Do not show simulated output. Explain boarding history separately: if stored in a manually managed array, adding is O(1) while capacity lasts and display is O(h) for h records; state exactly what the final code does. VIVA: 1) Why circular? Freed slots are reused, so storage is not wasted. 2) Why modulo? It wraps index 4 back to 0. 3) Full vs empty? size == capacity vs size == 0. 4) Full or empty queue? Overflow or underflow message, no state change. 5) Complexity? Enqueue O(1), dequeue O(1), search O(n).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Fill the contribution table with real names and only verified contributions. SUGGESTED DIVISION (adapt to team size): M1 problem and objectives; M2 data structure and comparison; M3 diagram and enqueue; M4 dequeue, peek, overflow/underflow; M5 dry run; M6 testing, complexity, demo. Each member also answers one viva question. Replace the textbook placeholder with the actual prescribed book.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33450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Circular Queue for Passenger Boarding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52600"/>
            <a:ext cx="16325088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75D0A"/>
                </a:solidFill>
                <a:latin typeface="Arial Bold"/>
                <a:ea typeface="Arial Bold"/>
                <a:cs typeface="Arial Bold"/>
                <a:sym typeface="Arial Bold"/>
              </a:rPr>
              <a:t>Circular Bus/Train Queue Management System Using Circular Queue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2482215"/>
            <a:ext cx="16325088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SOHAM   RANE                    D7B                   39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9200" y="3543300"/>
            <a:ext cx="7133434" cy="3013710"/>
            <a:chOff x="0" y="0"/>
            <a:chExt cx="9511246" cy="401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11157" cy="4018280"/>
            </a:xfrm>
            <a:custGeom>
              <a:avLst/>
              <a:gdLst/>
              <a:ahLst/>
              <a:cxnLst/>
              <a:rect r="r" b="b" t="t" l="l"/>
              <a:pathLst>
                <a:path h="4018280" w="9511157">
                  <a:moveTo>
                    <a:pt x="0" y="171958"/>
                  </a:moveTo>
                  <a:cubicBezTo>
                    <a:pt x="0" y="76962"/>
                    <a:pt x="76962" y="0"/>
                    <a:pt x="171958" y="0"/>
                  </a:cubicBezTo>
                  <a:lnTo>
                    <a:pt x="9339199" y="0"/>
                  </a:lnTo>
                  <a:cubicBezTo>
                    <a:pt x="9434195" y="0"/>
                    <a:pt x="9511157" y="76962"/>
                    <a:pt x="9511157" y="171958"/>
                  </a:cubicBezTo>
                  <a:lnTo>
                    <a:pt x="9511157" y="3846322"/>
                  </a:lnTo>
                  <a:cubicBezTo>
                    <a:pt x="9511157" y="3941318"/>
                    <a:pt x="9434195" y="4018280"/>
                    <a:pt x="9339199" y="4018280"/>
                  </a:cubicBezTo>
                  <a:lnTo>
                    <a:pt x="171958" y="4018280"/>
                  </a:lnTo>
                  <a:cubicBezTo>
                    <a:pt x="76962" y="4018280"/>
                    <a:pt x="0" y="3941318"/>
                    <a:pt x="0" y="3846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CED6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95425" y="3810000"/>
            <a:ext cx="677840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5425" y="4242435"/>
            <a:ext cx="677840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Passengers wait to board a bus or train in strict arrival order. Storage freed by boarded passengers must be reused efficiently.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5425" y="5444490"/>
            <a:ext cx="6778409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User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5425" y="5876925"/>
            <a:ext cx="6778409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 transport counter operator using a console menu.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19334" y="3543300"/>
            <a:ext cx="8449466" cy="3013710"/>
            <a:chOff x="0" y="0"/>
            <a:chExt cx="11265954" cy="4018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65916" cy="4018280"/>
            </a:xfrm>
            <a:custGeom>
              <a:avLst/>
              <a:gdLst/>
              <a:ahLst/>
              <a:cxnLst/>
              <a:rect r="r" b="b" t="t" l="l"/>
              <a:pathLst>
                <a:path h="4018280" w="11265916">
                  <a:moveTo>
                    <a:pt x="0" y="171958"/>
                  </a:moveTo>
                  <a:cubicBezTo>
                    <a:pt x="0" y="76962"/>
                    <a:pt x="76962" y="0"/>
                    <a:pt x="171958" y="0"/>
                  </a:cubicBezTo>
                  <a:lnTo>
                    <a:pt x="11093958" y="0"/>
                  </a:lnTo>
                  <a:cubicBezTo>
                    <a:pt x="11188954" y="0"/>
                    <a:pt x="11265916" y="76962"/>
                    <a:pt x="11265916" y="171958"/>
                  </a:cubicBezTo>
                  <a:lnTo>
                    <a:pt x="11265916" y="3846322"/>
                  </a:lnTo>
                  <a:cubicBezTo>
                    <a:pt x="11265916" y="3941318"/>
                    <a:pt x="11188954" y="4018280"/>
                    <a:pt x="11093958" y="4018280"/>
                  </a:cubicBezTo>
                  <a:lnTo>
                    <a:pt x="171958" y="4018280"/>
                  </a:lnTo>
                  <a:cubicBezTo>
                    <a:pt x="76962" y="4018280"/>
                    <a:pt x="0" y="3941318"/>
                    <a:pt x="0" y="3846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CED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895559" y="3810000"/>
            <a:ext cx="8133931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Objectives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01287" y="4251960"/>
            <a:ext cx="8016773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632"/>
              </a:lnSpc>
              <a:buAutoNum type="arabicPeriod" startAt="1"/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Add and board passengers in FIFO order, each in O(1)</a:t>
            </a:r>
          </a:p>
          <a:p>
            <a:pPr algn="l" marL="352901" indent="-176451" lvl="1">
              <a:lnSpc>
                <a:spcPts val="2632"/>
              </a:lnSpc>
              <a:buAutoNum type="arabicPeriod" startAt="1"/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Reuse freed slots by wraparound in a 5-slot array</a:t>
            </a:r>
          </a:p>
          <a:p>
            <a:pPr algn="l" marL="352901" indent="-176451" lvl="1">
              <a:lnSpc>
                <a:spcPts val="2632"/>
              </a:lnSpc>
              <a:buAutoNum type="arabicPeriod" startAt="1"/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Report overflow and underflow without crashing</a:t>
            </a:r>
          </a:p>
          <a:p>
            <a:pPr algn="l" marL="352901" indent="-176451" lvl="1">
              <a:lnSpc>
                <a:spcPts val="2632"/>
              </a:lnSpc>
              <a:buAutoNum type="arabicPeriod" startAt="1"/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Search by ticket and show queue status and history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" y="7069455"/>
            <a:ext cx="1504950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Boarding →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800350" y="6823710"/>
            <a:ext cx="1428750" cy="952500"/>
            <a:chOff x="0" y="0"/>
            <a:chExt cx="1905000" cy="127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0500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793748" y="0"/>
                  </a:lnTo>
                  <a:cubicBezTo>
                    <a:pt x="1855216" y="0"/>
                    <a:pt x="1905000" y="49784"/>
                    <a:pt x="1905000" y="111252"/>
                  </a:cubicBezTo>
                  <a:lnTo>
                    <a:pt x="1905000" y="1158748"/>
                  </a:lnTo>
                  <a:cubicBezTo>
                    <a:pt x="1905000" y="1220216"/>
                    <a:pt x="1855216" y="1270000"/>
                    <a:pt x="1793748" y="1270000"/>
                  </a:cubicBezTo>
                  <a:lnTo>
                    <a:pt x="111252" y="1270000"/>
                  </a:lnTo>
                  <a:cubicBezTo>
                    <a:pt x="49784" y="1270000"/>
                    <a:pt x="0" y="1220216"/>
                    <a:pt x="0" y="1158748"/>
                  </a:cubicBezTo>
                  <a:close/>
                </a:path>
              </a:pathLst>
            </a:custGeom>
            <a:solidFill>
              <a:srgbClr val="FDE6CF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905000" cy="132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421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381500" y="6823710"/>
            <a:ext cx="1428750" cy="952500"/>
            <a:chOff x="0" y="0"/>
            <a:chExt cx="1905000" cy="127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0500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793748" y="0"/>
                  </a:lnTo>
                  <a:cubicBezTo>
                    <a:pt x="1855216" y="0"/>
                    <a:pt x="1905000" y="49784"/>
                    <a:pt x="1905000" y="111252"/>
                  </a:cubicBezTo>
                  <a:lnTo>
                    <a:pt x="1905000" y="1158748"/>
                  </a:lnTo>
                  <a:cubicBezTo>
                    <a:pt x="1905000" y="1220216"/>
                    <a:pt x="1855216" y="1270000"/>
                    <a:pt x="1793748" y="1270000"/>
                  </a:cubicBezTo>
                  <a:lnTo>
                    <a:pt x="111252" y="1270000"/>
                  </a:lnTo>
                  <a:cubicBezTo>
                    <a:pt x="49784" y="1270000"/>
                    <a:pt x="0" y="1220216"/>
                    <a:pt x="0" y="115874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905000" cy="132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421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62650" y="6823710"/>
            <a:ext cx="1428750" cy="952500"/>
            <a:chOff x="0" y="0"/>
            <a:chExt cx="1905000" cy="127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0500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793748" y="0"/>
                  </a:lnTo>
                  <a:cubicBezTo>
                    <a:pt x="1855216" y="0"/>
                    <a:pt x="1905000" y="49784"/>
                    <a:pt x="1905000" y="111252"/>
                  </a:cubicBezTo>
                  <a:lnTo>
                    <a:pt x="1905000" y="1158748"/>
                  </a:lnTo>
                  <a:cubicBezTo>
                    <a:pt x="1905000" y="1220216"/>
                    <a:pt x="1855216" y="1270000"/>
                    <a:pt x="1793748" y="1270000"/>
                  </a:cubicBezTo>
                  <a:lnTo>
                    <a:pt x="111252" y="1270000"/>
                  </a:lnTo>
                  <a:cubicBezTo>
                    <a:pt x="49784" y="1270000"/>
                    <a:pt x="0" y="1220216"/>
                    <a:pt x="0" y="115874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905000" cy="132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421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43800" y="6823710"/>
            <a:ext cx="1428750" cy="952500"/>
            <a:chOff x="0" y="0"/>
            <a:chExt cx="1905000" cy="127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0500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793748" y="0"/>
                  </a:lnTo>
                  <a:cubicBezTo>
                    <a:pt x="1855216" y="0"/>
                    <a:pt x="1905000" y="49784"/>
                    <a:pt x="1905000" y="111252"/>
                  </a:cubicBezTo>
                  <a:lnTo>
                    <a:pt x="1905000" y="1158748"/>
                  </a:lnTo>
                  <a:cubicBezTo>
                    <a:pt x="1905000" y="1220216"/>
                    <a:pt x="1855216" y="1270000"/>
                    <a:pt x="1793748" y="1270000"/>
                  </a:cubicBezTo>
                  <a:lnTo>
                    <a:pt x="111252" y="1270000"/>
                  </a:lnTo>
                  <a:cubicBezTo>
                    <a:pt x="49784" y="1270000"/>
                    <a:pt x="0" y="1220216"/>
                    <a:pt x="0" y="1158748"/>
                  </a:cubicBezTo>
                  <a:close/>
                </a:path>
              </a:pathLst>
            </a:custGeom>
            <a:solidFill>
              <a:srgbClr val="E6E8EB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905000" cy="132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5B64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empty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24950" y="6823710"/>
            <a:ext cx="1428750" cy="952500"/>
            <a:chOff x="0" y="0"/>
            <a:chExt cx="1905000" cy="127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90500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1793748" y="0"/>
                  </a:lnTo>
                  <a:cubicBezTo>
                    <a:pt x="1855216" y="0"/>
                    <a:pt x="1905000" y="49784"/>
                    <a:pt x="1905000" y="111252"/>
                  </a:cubicBezTo>
                  <a:lnTo>
                    <a:pt x="1905000" y="1158748"/>
                  </a:lnTo>
                  <a:cubicBezTo>
                    <a:pt x="1905000" y="1220216"/>
                    <a:pt x="1855216" y="1270000"/>
                    <a:pt x="1793748" y="1270000"/>
                  </a:cubicBezTo>
                  <a:lnTo>
                    <a:pt x="111252" y="1270000"/>
                  </a:lnTo>
                  <a:cubicBezTo>
                    <a:pt x="49784" y="1270000"/>
                    <a:pt x="0" y="1220216"/>
                    <a:pt x="0" y="1158748"/>
                  </a:cubicBezTo>
                  <a:close/>
                </a:path>
              </a:pathLst>
            </a:custGeom>
            <a:solidFill>
              <a:srgbClr val="E6E8EB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905000" cy="1327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5B64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empty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33450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Why a Circular Queue Fits Boarding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1809750"/>
            <a:ext cx="7791450" cy="2880360"/>
            <a:chOff x="0" y="0"/>
            <a:chExt cx="10388600" cy="38404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886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10388600">
                  <a:moveTo>
                    <a:pt x="0" y="171958"/>
                  </a:moveTo>
                  <a:cubicBezTo>
                    <a:pt x="0" y="76962"/>
                    <a:pt x="76962" y="0"/>
                    <a:pt x="171958" y="0"/>
                  </a:cubicBezTo>
                  <a:lnTo>
                    <a:pt x="10216642" y="0"/>
                  </a:lnTo>
                  <a:cubicBezTo>
                    <a:pt x="10311638" y="0"/>
                    <a:pt x="10388600" y="76962"/>
                    <a:pt x="10388600" y="171958"/>
                  </a:cubicBezTo>
                  <a:lnTo>
                    <a:pt x="10388600" y="3668522"/>
                  </a:lnTo>
                  <a:cubicBezTo>
                    <a:pt x="10388600" y="3763518"/>
                    <a:pt x="10311638" y="3840480"/>
                    <a:pt x="10216642" y="3840480"/>
                  </a:cubicBezTo>
                  <a:lnTo>
                    <a:pt x="171958" y="3840480"/>
                  </a:lnTo>
                  <a:cubicBezTo>
                    <a:pt x="76962" y="3840480"/>
                    <a:pt x="0" y="3763518"/>
                    <a:pt x="0" y="36685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CED6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95425" y="2076450"/>
            <a:ext cx="745617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FIFO queue in a ring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5425" y="2508885"/>
            <a:ext cx="745617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First passenger in is first boarded. The array is treated as a ring: after index 4 comes index 0.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5425" y="3316605"/>
            <a:ext cx="745617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Stored: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ticket number, name, destination per passenger; plus </a:t>
            </a: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queue[]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front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rear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size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capacity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= 5.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77350" y="1809750"/>
            <a:ext cx="7791450" cy="2880360"/>
            <a:chOff x="0" y="0"/>
            <a:chExt cx="10388600" cy="3840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8600" cy="3840480"/>
            </a:xfrm>
            <a:custGeom>
              <a:avLst/>
              <a:gdLst/>
              <a:ahLst/>
              <a:cxnLst/>
              <a:rect r="r" b="b" t="t" l="l"/>
              <a:pathLst>
                <a:path h="3840480" w="10388600">
                  <a:moveTo>
                    <a:pt x="0" y="171958"/>
                  </a:moveTo>
                  <a:cubicBezTo>
                    <a:pt x="0" y="76962"/>
                    <a:pt x="76962" y="0"/>
                    <a:pt x="171958" y="0"/>
                  </a:cubicBezTo>
                  <a:lnTo>
                    <a:pt x="10216642" y="0"/>
                  </a:lnTo>
                  <a:cubicBezTo>
                    <a:pt x="10311638" y="0"/>
                    <a:pt x="10388600" y="76962"/>
                    <a:pt x="10388600" y="171958"/>
                  </a:cubicBezTo>
                  <a:lnTo>
                    <a:pt x="10388600" y="3668522"/>
                  </a:lnTo>
                  <a:cubicBezTo>
                    <a:pt x="10388600" y="3763518"/>
                    <a:pt x="10311638" y="3840480"/>
                    <a:pt x="10216642" y="3840480"/>
                  </a:cubicBezTo>
                  <a:lnTo>
                    <a:pt x="171958" y="3840480"/>
                  </a:lnTo>
                  <a:cubicBezTo>
                    <a:pt x="76962" y="3840480"/>
                    <a:pt x="0" y="3763518"/>
                    <a:pt x="0" y="36685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CED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553575" y="2076450"/>
            <a:ext cx="745617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States and overflow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3575" y="2508885"/>
            <a:ext cx="745617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Empty: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size == 0</a:t>
            </a:r>
          </a:p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Full: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size == capacity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 size counter avoids the front == rear ambiguity.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3575" y="3663315"/>
            <a:ext cx="745617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If full, add is refused and an overflow message is shown; no passenger is overwritten.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19200" y="4956810"/>
            <a:ext cx="15849600" cy="2476500"/>
            <a:chOff x="0" y="0"/>
            <a:chExt cx="21132800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1328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302000"/>
                  </a:lnTo>
                  <a:lnTo>
                    <a:pt x="0" y="3302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238250" y="4975860"/>
          <a:ext cx="15773400" cy="2381250"/>
        </p:xfrm>
        <a:graphic>
          <a:graphicData uri="http://schemas.openxmlformats.org/drawingml/2006/table">
            <a:tbl>
              <a:tblPr/>
              <a:tblGrid>
                <a:gridCol w="3943350"/>
                <a:gridCol w="3943350"/>
                <a:gridCol w="3943350"/>
                <a:gridCol w="3943350"/>
              </a:tblGrid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Aspect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Linear array queue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Circular queue (ours)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Linked-list queue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Freed slots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Wasted after dequeue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Reused by wraparound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Nodes freed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Memory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Fixed, O(C)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Grows, pointer overhead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Enqueue / dequeue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O(1), but fills up early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O(1)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O(1)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Overflow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 with free space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when size = capacity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when memory ends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33450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Array Structure and Core Algorithms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1809750"/>
            <a:ext cx="8572500" cy="3810000"/>
            <a:chOff x="0" y="0"/>
            <a:chExt cx="11430000" cy="508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3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11430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1252200" y="0"/>
                  </a:lnTo>
                  <a:cubicBezTo>
                    <a:pt x="11350371" y="0"/>
                    <a:pt x="11430000" y="79629"/>
                    <a:pt x="11430000" y="177800"/>
                  </a:cubicBezTo>
                  <a:lnTo>
                    <a:pt x="11430000" y="4902200"/>
                  </a:lnTo>
                  <a:cubicBezTo>
                    <a:pt x="11430000" y="5000371"/>
                    <a:pt x="11350371" y="5080000"/>
                    <a:pt x="11252200" y="5080000"/>
                  </a:cubicBezTo>
                  <a:lnTo>
                    <a:pt x="177800" y="5080000"/>
                  </a:lnTo>
                  <a:cubicBezTo>
                    <a:pt x="79629" y="5080000"/>
                    <a:pt x="0" y="5000371"/>
                    <a:pt x="0" y="4902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9200" y="1809750"/>
            <a:ext cx="8572500" cy="3810000"/>
            <a:chOff x="0" y="0"/>
            <a:chExt cx="11430000" cy="5080000"/>
          </a:xfrm>
        </p:grpSpPr>
        <p:sp>
          <p:nvSpPr>
            <p:cNvPr name="Freeform 6" id="6" descr="Five array slots 0 to 4 holding 106, 107, 103, 104, 105 with front at index 2, rear at index 1 and a wrap arrow from index 4 to index 0"/>
            <p:cNvSpPr/>
            <p:nvPr/>
          </p:nvSpPr>
          <p:spPr>
            <a:xfrm flipH="false" flipV="false" rot="0">
              <a:off x="0" y="0"/>
              <a:ext cx="1143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5080000"/>
                  </a:lnTo>
                  <a:lnTo>
                    <a:pt x="0" y="508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172700" y="1809750"/>
            <a:ext cx="6896100" cy="2057400"/>
            <a:chOff x="0" y="0"/>
            <a:chExt cx="9194800" cy="274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948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919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042400" y="0"/>
                  </a:lnTo>
                  <a:cubicBezTo>
                    <a:pt x="9126601" y="0"/>
                    <a:pt x="9194800" y="68199"/>
                    <a:pt x="9194800" y="152400"/>
                  </a:cubicBezTo>
                  <a:lnTo>
                    <a:pt x="9194800" y="2590800"/>
                  </a:lnTo>
                  <a:cubicBezTo>
                    <a:pt x="9194800" y="2675001"/>
                    <a:pt x="9126601" y="2743200"/>
                    <a:pt x="9042400" y="2743200"/>
                  </a:cubicBezTo>
                  <a:lnTo>
                    <a:pt x="152400" y="2743200"/>
                  </a:lnTo>
                  <a:cubicBezTo>
                    <a:pt x="68199" y="2743200"/>
                    <a:pt x="0" y="2675001"/>
                    <a:pt x="0" y="2590800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439400" y="195262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0A86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PSEUDOCODE: enqueue(p)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9400" y="229171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1. if size == capacity: overflow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39400" y="263080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2. rear = (rear + 1) % capacity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9400" y="296989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3. queue[rear] = 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39400" y="330898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4. size = size + 1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72700" y="4057650"/>
            <a:ext cx="6896100" cy="2735580"/>
            <a:chOff x="0" y="0"/>
            <a:chExt cx="9194800" cy="3647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94800" cy="3647440"/>
            </a:xfrm>
            <a:custGeom>
              <a:avLst/>
              <a:gdLst/>
              <a:ahLst/>
              <a:cxnLst/>
              <a:rect r="r" b="b" t="t" l="l"/>
              <a:pathLst>
                <a:path h="3647440" w="919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9042400" y="0"/>
                  </a:lnTo>
                  <a:cubicBezTo>
                    <a:pt x="9126601" y="0"/>
                    <a:pt x="9194800" y="68199"/>
                    <a:pt x="9194800" y="152400"/>
                  </a:cubicBezTo>
                  <a:lnTo>
                    <a:pt x="9194800" y="3495040"/>
                  </a:lnTo>
                  <a:cubicBezTo>
                    <a:pt x="9194800" y="3579241"/>
                    <a:pt x="9126601" y="3647440"/>
                    <a:pt x="9042400" y="3647440"/>
                  </a:cubicBezTo>
                  <a:lnTo>
                    <a:pt x="152400" y="3647440"/>
                  </a:lnTo>
                  <a:cubicBezTo>
                    <a:pt x="68199" y="3647440"/>
                    <a:pt x="0" y="3579241"/>
                    <a:pt x="0" y="3495040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439400" y="420052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0A86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PSEUDOCODE: dequeue()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9400" y="453961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1. if size == 0: underflow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39400" y="487870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2. p = queue[front]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39400" y="521779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3. queue[front] = null (if done)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39400" y="555688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4. front = (front + 1) % capacity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39400" y="589597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5. size = size - 1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39400" y="6235065"/>
            <a:ext cx="65535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6. return 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9200" y="7002780"/>
            <a:ext cx="16325088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Physical order (index 0 to 4) differs from logical order (front onward, wrapping). Shown: final state of the dry run.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33450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Dry Run: Wraparound in Six Operations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1809750"/>
            <a:ext cx="15849600" cy="4911090"/>
            <a:chOff x="0" y="0"/>
            <a:chExt cx="21132800" cy="65481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132800" cy="6548120"/>
            </a:xfrm>
            <a:custGeom>
              <a:avLst/>
              <a:gdLst/>
              <a:ahLst/>
              <a:cxnLst/>
              <a:rect r="r" b="b" t="t" l="l"/>
              <a:pathLst>
                <a:path h="6548120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6548120"/>
                  </a:lnTo>
                  <a:lnTo>
                    <a:pt x="0" y="6548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38250" y="1828800"/>
          <a:ext cx="15773400" cy="478155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  <a:gridCol w="2628900"/>
                <a:gridCol w="2628900"/>
              </a:tblGrid>
              <a:tr h="4872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Step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Operation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front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rear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size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Physical array [0..4]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872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[101, 102, 103, -, -]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2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Enqueue 104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[101, 102, 103, 104, -]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Enqueue 105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[101, 102, 103, 104, 105]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2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Dequeue 101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[-, 102, 103, 104, 105]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2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Dequeue 102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[-, -, 103, 104, 105]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Enqueue 106 (rear = (4+1)%5 = 0)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[106, -, 103, 104, 105]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Enqueue 107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[106, 107, 103, 104, 105]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219200" y="7126605"/>
            <a:ext cx="1238250" cy="762000"/>
            <a:chOff x="0" y="0"/>
            <a:chExt cx="1651000" cy="10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1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651000" cy="1073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421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57450" y="7126605"/>
            <a:ext cx="1238250" cy="762000"/>
            <a:chOff x="0" y="0"/>
            <a:chExt cx="1651000" cy="10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1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D6E4FB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51000" cy="1073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421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107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95700" y="7126605"/>
            <a:ext cx="1238250" cy="762000"/>
            <a:chOff x="0" y="0"/>
            <a:chExt cx="1651000" cy="101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1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DE6CF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651000" cy="1073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421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33950" y="7126605"/>
            <a:ext cx="1238250" cy="762000"/>
            <a:chOff x="0" y="0"/>
            <a:chExt cx="1651000" cy="10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51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651000" cy="1073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421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72200" y="7126605"/>
            <a:ext cx="1238250" cy="762000"/>
            <a:chOff x="0" y="0"/>
            <a:chExt cx="1651000" cy="101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51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4213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651000" cy="1073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4213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105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600950" y="6930390"/>
            <a:ext cx="8829675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Final:</a:t>
            </a:r>
            <a:r>
              <a:rPr lang="en-US" sz="195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 front = 2 (orange), rear = 1 (blue), size = 5. Indices 0 and 1 hold the newest passengers, yet boarding order stays 103 → 104 → 105 → 106 → 107.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1809750"/>
            <a:ext cx="9144000" cy="5425440"/>
            <a:chOff x="0" y="0"/>
            <a:chExt cx="12192000" cy="7233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7233920"/>
            </a:xfrm>
            <a:custGeom>
              <a:avLst/>
              <a:gdLst/>
              <a:ahLst/>
              <a:cxnLst/>
              <a:rect r="r" b="b" t="t" l="l"/>
              <a:pathLst>
                <a:path h="72339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233920"/>
                  </a:lnTo>
                  <a:lnTo>
                    <a:pt x="0" y="72339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238250" y="1828800"/>
          <a:ext cx="9086850" cy="5314950"/>
        </p:xfrm>
        <a:graphic>
          <a:graphicData uri="http://schemas.openxmlformats.org/drawingml/2006/table">
            <a:tbl>
              <a:tblPr/>
              <a:tblGrid>
                <a:gridCol w="3028950"/>
                <a:gridCol w="3028950"/>
                <a:gridCol w="3028950"/>
              </a:tblGrid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Test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Expected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Result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265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Enqueue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Passenger added at rear, size +1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Dequeue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 boarded, size -1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Peek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 shown, no removal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FIFO order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Boarded in arrival order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 existing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Passenger found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 missing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Not-found message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Overflow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refused at size 5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Underflow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Board refused at size 0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Wraparound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Freed slots reused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8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Invalid menu input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Error, menu repeats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10"/>
                        </a:lnSpc>
                        <a:defRPr/>
                      </a:pPr>
                      <a:r>
                        <a:rPr lang="en-US" sz="165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Pending verification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10629900" y="1809750"/>
            <a:ext cx="6438900" cy="3950970"/>
            <a:chOff x="0" y="0"/>
            <a:chExt cx="8585200" cy="5267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85200" cy="5267960"/>
            </a:xfrm>
            <a:custGeom>
              <a:avLst/>
              <a:gdLst/>
              <a:ahLst/>
              <a:cxnLst/>
              <a:rect r="r" b="b" t="t" l="l"/>
              <a:pathLst>
                <a:path h="5267960" w="8585200">
                  <a:moveTo>
                    <a:pt x="0" y="0"/>
                  </a:moveTo>
                  <a:lnTo>
                    <a:pt x="8585200" y="0"/>
                  </a:lnTo>
                  <a:lnTo>
                    <a:pt x="8585200" y="5267960"/>
                  </a:lnTo>
                  <a:lnTo>
                    <a:pt x="0" y="52679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648950" y="1828800"/>
          <a:ext cx="6400800" cy="38100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Operation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4F1E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Time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Enqueue, dequeue, peek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O(1)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Empty / full check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O(1)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Search by ticket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O(n)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Display queue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O(n)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Physical status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O(C)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Queue storage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O(C)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Boarding history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 actual implementation</a:t>
                      </a:r>
                      <a:endParaRPr lang="en-US" sz="1100"/>
                    </a:p>
                  </a:txBody>
                  <a:tcPr marL="88900" marR="88900" marT="88900" marB="88900" anchor="t">
                    <a:lnL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219200" y="7501890"/>
            <a:ext cx="4785360" cy="1040130"/>
            <a:chOff x="0" y="0"/>
            <a:chExt cx="6380480" cy="1386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80480" cy="1386840"/>
            </a:xfrm>
            <a:custGeom>
              <a:avLst/>
              <a:gdLst/>
              <a:ahLst/>
              <a:cxnLst/>
              <a:rect r="r" b="b" t="t" l="l"/>
              <a:pathLst>
                <a:path h="1386840" w="638048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6228080" y="0"/>
                  </a:lnTo>
                  <a:cubicBezTo>
                    <a:pt x="6312281" y="0"/>
                    <a:pt x="6380480" y="68199"/>
                    <a:pt x="6380480" y="152400"/>
                  </a:cubicBezTo>
                  <a:lnTo>
                    <a:pt x="6380480" y="1234440"/>
                  </a:lnTo>
                  <a:cubicBezTo>
                    <a:pt x="6380480" y="1318641"/>
                    <a:pt x="6312281" y="1386840"/>
                    <a:pt x="6228080" y="1386840"/>
                  </a:cubicBezTo>
                  <a:lnTo>
                    <a:pt x="152400" y="1386840"/>
                  </a:lnTo>
                  <a:cubicBezTo>
                    <a:pt x="68199" y="1386840"/>
                    <a:pt x="0" y="1318641"/>
                    <a:pt x="0" y="1234440"/>
                  </a:cubicBezTo>
                  <a:close/>
                </a:path>
              </a:pathLst>
            </a:custGeom>
            <a:solidFill>
              <a:srgbClr val="14213D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660568" y="6271811"/>
            <a:ext cx="4377563" cy="3877479"/>
          </a:xfrm>
          <a:custGeom>
            <a:avLst/>
            <a:gdLst/>
            <a:ahLst/>
            <a:cxnLst/>
            <a:rect r="r" b="b" t="t" l="l"/>
            <a:pathLst>
              <a:path h="3877479" w="4377563">
                <a:moveTo>
                  <a:pt x="0" y="0"/>
                </a:moveTo>
                <a:lnTo>
                  <a:pt x="4377564" y="0"/>
                </a:lnTo>
                <a:lnTo>
                  <a:pt x="4377564" y="3877478"/>
                </a:lnTo>
                <a:lnTo>
                  <a:pt x="0" y="38774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5559" b="-547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19200" y="933450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Testing and Complexity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29900" y="5855970"/>
            <a:ext cx="663206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 = waiting passengers; C = capacity (5 here).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900" y="7644765"/>
            <a:ext cx="451866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javac TransportQueueSystem.java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5900" y="7983855"/>
            <a:ext cx="437951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4F1EA"/>
                </a:solidFill>
                <a:latin typeface="Courier New"/>
                <a:ea typeface="Courier New"/>
                <a:cs typeface="Courier New"/>
                <a:sym typeface="Courier New"/>
              </a:rPr>
              <a:t>java TransportQueueSystem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933450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50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Limitations, Learning and Contributions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1809750"/>
            <a:ext cx="5105400" cy="2301240"/>
            <a:chOff x="0" y="0"/>
            <a:chExt cx="6807200" cy="30683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07200" cy="3068320"/>
            </a:xfrm>
            <a:custGeom>
              <a:avLst/>
              <a:gdLst/>
              <a:ahLst/>
              <a:cxnLst/>
              <a:rect r="r" b="b" t="t" l="l"/>
              <a:pathLst>
                <a:path h="3068320" w="6807200">
                  <a:moveTo>
                    <a:pt x="0" y="172212"/>
                  </a:moveTo>
                  <a:cubicBezTo>
                    <a:pt x="0" y="77089"/>
                    <a:pt x="77089" y="0"/>
                    <a:pt x="172212" y="0"/>
                  </a:cubicBezTo>
                  <a:lnTo>
                    <a:pt x="6634988" y="0"/>
                  </a:lnTo>
                  <a:cubicBezTo>
                    <a:pt x="6730111" y="0"/>
                    <a:pt x="6807200" y="77089"/>
                    <a:pt x="6807200" y="172212"/>
                  </a:cubicBezTo>
                  <a:lnTo>
                    <a:pt x="6807200" y="2896108"/>
                  </a:lnTo>
                  <a:cubicBezTo>
                    <a:pt x="6807200" y="2991231"/>
                    <a:pt x="6730111" y="3068320"/>
                    <a:pt x="6634988" y="3068320"/>
                  </a:cubicBezTo>
                  <a:lnTo>
                    <a:pt x="172212" y="3068320"/>
                  </a:lnTo>
                  <a:cubicBezTo>
                    <a:pt x="77089" y="3068320"/>
                    <a:pt x="0" y="2991231"/>
                    <a:pt x="0" y="289610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CED6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95425" y="2066925"/>
            <a:ext cx="468953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2684" y="2495550"/>
            <a:ext cx="451085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Fixed capacity of 5</a:t>
            </a:r>
          </a:p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Console-only interface</a:t>
            </a:r>
          </a:p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In-memory records, no storage</a:t>
            </a:r>
          </a:p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Simplified ticket generation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91300" y="1809750"/>
            <a:ext cx="5105400" cy="2301240"/>
            <a:chOff x="0" y="0"/>
            <a:chExt cx="6807200" cy="3068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07200" cy="3068320"/>
            </a:xfrm>
            <a:custGeom>
              <a:avLst/>
              <a:gdLst/>
              <a:ahLst/>
              <a:cxnLst/>
              <a:rect r="r" b="b" t="t" l="l"/>
              <a:pathLst>
                <a:path h="3068320" w="6807200">
                  <a:moveTo>
                    <a:pt x="0" y="172212"/>
                  </a:moveTo>
                  <a:cubicBezTo>
                    <a:pt x="0" y="77089"/>
                    <a:pt x="77089" y="0"/>
                    <a:pt x="172212" y="0"/>
                  </a:cubicBezTo>
                  <a:lnTo>
                    <a:pt x="6634988" y="0"/>
                  </a:lnTo>
                  <a:cubicBezTo>
                    <a:pt x="6730111" y="0"/>
                    <a:pt x="6807200" y="77089"/>
                    <a:pt x="6807200" y="172212"/>
                  </a:cubicBezTo>
                  <a:lnTo>
                    <a:pt x="6807200" y="2896108"/>
                  </a:lnTo>
                  <a:cubicBezTo>
                    <a:pt x="6807200" y="2991231"/>
                    <a:pt x="6730111" y="3068320"/>
                    <a:pt x="6634988" y="3068320"/>
                  </a:cubicBezTo>
                  <a:lnTo>
                    <a:pt x="172212" y="3068320"/>
                  </a:lnTo>
                  <a:cubicBezTo>
                    <a:pt x="77089" y="3068320"/>
                    <a:pt x="0" y="2991231"/>
                    <a:pt x="0" y="289610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CED6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867525" y="2066925"/>
            <a:ext cx="468953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Learning outcomes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34784" y="2495550"/>
            <a:ext cx="4510850" cy="137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FIFO, modulo, circular indexing</a:t>
            </a:r>
          </a:p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Overflow, underflow, invariants</a:t>
            </a:r>
          </a:p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Object-oriented design</a:t>
            </a:r>
          </a:p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Algorithmic complexity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63400" y="1809750"/>
            <a:ext cx="5105400" cy="2301240"/>
            <a:chOff x="0" y="0"/>
            <a:chExt cx="6807200" cy="3068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07200" cy="3068320"/>
            </a:xfrm>
            <a:custGeom>
              <a:avLst/>
              <a:gdLst/>
              <a:ahLst/>
              <a:cxnLst/>
              <a:rect r="r" b="b" t="t" l="l"/>
              <a:pathLst>
                <a:path h="3068320" w="6807200">
                  <a:moveTo>
                    <a:pt x="0" y="172212"/>
                  </a:moveTo>
                  <a:cubicBezTo>
                    <a:pt x="0" y="77089"/>
                    <a:pt x="77089" y="0"/>
                    <a:pt x="172212" y="0"/>
                  </a:cubicBezTo>
                  <a:lnTo>
                    <a:pt x="6634988" y="0"/>
                  </a:lnTo>
                  <a:cubicBezTo>
                    <a:pt x="6730111" y="0"/>
                    <a:pt x="6807200" y="77089"/>
                    <a:pt x="6807200" y="172212"/>
                  </a:cubicBezTo>
                  <a:lnTo>
                    <a:pt x="6807200" y="2896108"/>
                  </a:lnTo>
                  <a:cubicBezTo>
                    <a:pt x="6807200" y="2991231"/>
                    <a:pt x="6730111" y="3068320"/>
                    <a:pt x="6634988" y="3068320"/>
                  </a:cubicBezTo>
                  <a:lnTo>
                    <a:pt x="172212" y="3068320"/>
                  </a:lnTo>
                  <a:cubicBezTo>
                    <a:pt x="77089" y="3068320"/>
                    <a:pt x="0" y="2991231"/>
                    <a:pt x="0" y="289610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C9CED6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239625" y="2066925"/>
            <a:ext cx="468953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4213D"/>
                </a:solidFill>
                <a:latin typeface="Arial Bold"/>
                <a:ea typeface="Arial Bold"/>
                <a:cs typeface="Arial Bold"/>
                <a:sym typeface="Arial Bold"/>
              </a:rPr>
              <a:t>References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06884" y="2495550"/>
            <a:ext cx="4510850" cy="1363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Oracle, Java SE Documentation (docs.oracle.com/javase)</a:t>
            </a:r>
          </a:p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[Prescribed Data Structures textbook]</a:t>
            </a:r>
          </a:p>
          <a:p>
            <a:pPr algn="l" marL="325755" indent="-162878" lvl="1">
              <a:lnSpc>
                <a:spcPts val="2430"/>
              </a:lnSpc>
              <a:buFont typeface="Arial"/>
              <a:buChar char="•"/>
            </a:pPr>
            <a:r>
              <a:rPr lang="en-US" sz="180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VESIT course notes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" y="9300210"/>
            <a:ext cx="137350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VESIT, Mumbai · Data Structures · Circular Queue Transport System · 6/6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8874" y="5851073"/>
            <a:ext cx="4582279" cy="107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2"/>
              </a:lnSpc>
              <a:spcBef>
                <a:spcPct val="0"/>
              </a:spcBef>
            </a:pPr>
            <a:r>
              <a:rPr lang="en-US" b="true" sz="608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DAHYxPVh5g0</dc:identifier>
  <dcterms:modified xsi:type="dcterms:W3CDTF">2011-08-01T06:04:30Z</dcterms:modified>
  <cp:revision>1</cp:revision>
  <dc:title>Circular Queue Transport System.pptx</dc:title>
</cp:coreProperties>
</file>